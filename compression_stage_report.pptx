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开场强调：这是阶段性成果汇报，重点是研究准备是否成体系，而不是一次性讲完所有算法细节。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这页用于降低预期误差：汇报重点是学习和研究准备，而不是宣称已经完成新算法或完整 benchmark。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这一页说明资源网站不是装饰，而是后续研究管理的入口。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这页展示网站不是空架子：每类页面都对应后续汇报主线中的一环。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这一页可以承接到后面的 Silesia baseline 设计：网站提供记录结构，实验结果后续再补。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强调三者同时存在：压缩率、可逆性、工程代价。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这页帮助听众从字符串视角转成压缩研究里的序列与符号视角。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说明为什么不能只拿一种文本文件代表所有场景。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用外部 benchmark 页面说明 Silesia 的位置，避免把公开 benchmark 与本地实测混为一谈。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这里按用户要求保留占位，不强行画复杂流程图。后续可替换为教材、论文或官方文档中的清晰 pipeline 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网站截图承载算法谱系的真实成果，下方时间线只做轻量辅助。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这页仅保留轻量卡片，不画复杂算法图。后续逐张替换成来源明确的原图。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本页说明为什么选择这些压缩器：不是全部都要深入实现，而是按研究对象、工程 baseline、神经方向分层。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PAQ8PX/cmix 是研究高压缩率路线的对象，不等于工程默认方案。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这一页避免误导：仅定位，不给未实测数字。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神经方向是后续探索项：强调概率预测器视角和工程代价。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从这里进入实验部分：目前是设计，不是结果展示。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一定说明：这里没有结果，不要把待测理解成负结果或占位数据。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这页建立评估纪律：压缩率之外，时间、内存和可靠性同样重要。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收束：下一步最可执行的是 baseline 实验和 PAQ/cmix 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无损压缩算法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阶段性学习成果汇报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从资源网站、任务理解、算法谱系到 baseline 实验框架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658368" y="4535424"/>
            <a:ext cx="2011680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00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资源网站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706624" y="4828032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4535424"/>
            <a:ext cx="2011680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4700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任务理解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882896" y="4828032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4535424"/>
            <a:ext cx="2011680" cy="786384"/>
          </a:xfrm>
          <a:prstGeom prst="roundRect">
            <a:avLst>
              <a:gd name="adj" fmla="val 4651"/>
            </a:avLst>
          </a:prstGeom>
          <a:solidFill>
            <a:srgbClr val="F5EEE5"/>
          </a:solidFill>
          <a:ln w="10160">
            <a:solidFill>
              <a:srgbClr val="A86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4700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算法谱系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059168" y="4828032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7184" y="4535424"/>
            <a:ext cx="2011680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4700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实验框架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235440" y="4828032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63456" y="4535424"/>
            <a:ext cx="2011680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4700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研发路线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127248"/>
            <a:ext cx="46634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6499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本次不是算法百科，而是把后续研究需要的坐标系、资料入口和实验规则先搭起来。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这次汇报的定位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把学习成果转成后续可复现研究的结构。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目标：从“知道很多名词”转向“知道如何比较、实验和继续深入”。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246120" cy="3200400"/>
          </a:xfrm>
          <a:prstGeom prst="roundRect">
            <a:avLst>
              <a:gd name="adj" fmla="val 1143"/>
            </a:avLst>
          </a:prstGeom>
          <a:solidFill>
            <a:srgbClr val="F7E8E8"/>
          </a:solidFill>
          <a:ln w="10160">
            <a:solidFill>
              <a:srgbClr val="E0B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299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A6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8803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不做算法百科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不追求堆满 SOTA 名词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不编造实验结论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不把页面做成商业路演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246120" cy="3200400"/>
          </a:xfrm>
          <a:prstGeom prst="roundRect">
            <a:avLst>
              <a:gd name="adj" fmla="val 1143"/>
            </a:avLst>
          </a:prstGeom>
          <a:solidFill>
            <a:srgbClr val="E7F4EE"/>
          </a:solidFill>
          <a:ln w="10160">
            <a:solidFill>
              <a:srgbClr val="B8D7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299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17720" y="2395728"/>
            <a:ext cx="28803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搭研究坐标系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梳理代表压缩器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baseline 实验方案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沉淀可复查资料入口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246120" cy="3200400"/>
          </a:xfrm>
          <a:prstGeom prst="roundRect">
            <a:avLst>
              <a:gd name="adj" fmla="val 1143"/>
            </a:avLst>
          </a:prstGeom>
          <a:solidFill>
            <a:srgbClr val="E7F0FA"/>
          </a:solidFill>
          <a:ln w="10160">
            <a:solidFill>
              <a:srgbClr val="B8C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0299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366760" y="2395728"/>
            <a:ext cx="28803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资源网站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汇报结构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图片来源说明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缺失图片清单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后续实验模板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我做的资源网站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优先使用真实网站截图作为 PPT 素材。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是后续资料、实验、任务的统一入口。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74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把论文、算法、数据集、任务拆成可持续维护的模块。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把“看过什么”转成“后续怎么复查和复现”。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31520" y="276148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97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网站本身也是学习成果的一部分，不只是展示页。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983480" y="1682496"/>
            <a:ext cx="6309360" cy="4142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4" name="Image 0" descr="F:\Compressor_site\assets\ppt_images\websit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268" y="1755648"/>
            <a:ext cx="5411785" cy="3758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11496" y="5568696"/>
            <a:ext cx="6053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当前项目网站首页截图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网站里的真实内容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资源、算法、实验、任务已经形成基本闭环。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6974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7" name="Image 0" descr="F:\Compressor_site\assets\ppt_images\website_hub.png">    </p:cNvPr>
          <p:cNvPicPr>
            <a:picLocks noChangeAspect="1"/>
          </p:cNvPicPr>
          <p:nvPr/>
        </p:nvPicPr>
        <p:blipFill>
          <a:blip r:embed="rId1"/>
          <a:srcRect l="0" r="0" t="5355" b="5355"/>
          <a:stretch/>
        </p:blipFill>
        <p:spPr>
          <a:xfrm>
            <a:off x="713232" y="1490472"/>
            <a:ext cx="2551176" cy="1581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1272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资源入口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3611880" y="1417320"/>
            <a:ext cx="26974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0" name="Image 1" descr="F:\Compressor_site\assets\ppt_images\website_library.png">    </p:cNvPr>
          <p:cNvPicPr>
            <a:picLocks noChangeAspect="1"/>
          </p:cNvPicPr>
          <p:nvPr/>
        </p:nvPicPr>
        <p:blipFill>
          <a:blip r:embed="rId2"/>
          <a:srcRect l="0" r="0" t="5355" b="5355"/>
          <a:stretch/>
        </p:blipFill>
        <p:spPr>
          <a:xfrm>
            <a:off x="3685032" y="1490472"/>
            <a:ext cx="2551176" cy="1581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9896" y="31272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文献库</a:t>
            </a:r>
            <a:endParaRPr lang="en-US" sz="740" dirty="0"/>
          </a:p>
        </p:txBody>
      </p:sp>
      <p:sp>
        <p:nvSpPr>
          <p:cNvPr id="12" name="Shape 8"/>
          <p:cNvSpPr/>
          <p:nvPr/>
        </p:nvSpPr>
        <p:spPr>
          <a:xfrm>
            <a:off x="6583680" y="1417320"/>
            <a:ext cx="26974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3" name="Image 2" descr="F:\Compressor_site\assets\ppt_images\website_algorithm_board.png">    </p:cNvPr>
          <p:cNvPicPr>
            <a:picLocks noChangeAspect="1"/>
          </p:cNvPicPr>
          <p:nvPr/>
        </p:nvPicPr>
        <p:blipFill>
          <a:blip r:embed="rId3"/>
          <a:srcRect l="0" r="0" t="5355" b="5355"/>
          <a:stretch/>
        </p:blipFill>
        <p:spPr>
          <a:xfrm>
            <a:off x="6656832" y="1490472"/>
            <a:ext cx="2551176" cy="1581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11696" y="31272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算法看板</a:t>
            </a:r>
            <a:endParaRPr lang="en-US" sz="740" dirty="0"/>
          </a:p>
        </p:txBody>
      </p:sp>
      <p:sp>
        <p:nvSpPr>
          <p:cNvPr id="15" name="Shape 10"/>
          <p:cNvSpPr/>
          <p:nvPr/>
        </p:nvSpPr>
        <p:spPr>
          <a:xfrm>
            <a:off x="9555480" y="1417320"/>
            <a:ext cx="19659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6" name="Image 3" descr="F:\Compressor_site\assets\ppt_images\website_experiments.png">    </p:cNvPr>
          <p:cNvPicPr>
            <a:picLocks noChangeAspect="1"/>
          </p:cNvPicPr>
          <p:nvPr/>
        </p:nvPicPr>
        <p:blipFill>
          <a:blip r:embed="rId4"/>
          <a:srcRect l="10059" r="10059" t="0" b="0"/>
          <a:stretch/>
        </p:blipFill>
        <p:spPr>
          <a:xfrm>
            <a:off x="9628632" y="1490472"/>
            <a:ext cx="1819656" cy="1581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83496" y="31272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实验页</a:t>
            </a:r>
            <a:endParaRPr lang="en-US" sz="740" dirty="0"/>
          </a:p>
        </p:txBody>
      </p:sp>
      <p:sp>
        <p:nvSpPr>
          <p:cNvPr id="18" name="Shape 12"/>
          <p:cNvSpPr/>
          <p:nvPr/>
        </p:nvSpPr>
        <p:spPr>
          <a:xfrm>
            <a:off x="731520" y="3886200"/>
            <a:ext cx="1920240" cy="37719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04672" y="3959352"/>
            <a:ext cx="177393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651760" y="3886200"/>
            <a:ext cx="3840480" cy="37719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724912" y="3959352"/>
            <a:ext cx="369417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当前作用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492240" y="3886200"/>
            <a:ext cx="4983480" cy="37719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65392" y="3959352"/>
            <a:ext cx="483717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对汇报的支撑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31520" y="4263390"/>
            <a:ext cx="192024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04672" y="4318254"/>
            <a:ext cx="1773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</a:t>
            </a:r>
            <a:endParaRPr lang="en-US" sz="920" dirty="0"/>
          </a:p>
        </p:txBody>
      </p:sp>
      <p:sp>
        <p:nvSpPr>
          <p:cNvPr id="26" name="Shape 20"/>
          <p:cNvSpPr/>
          <p:nvPr/>
        </p:nvSpPr>
        <p:spPr>
          <a:xfrm>
            <a:off x="2651760" y="4263390"/>
            <a:ext cx="384048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724912" y="4318254"/>
            <a:ext cx="3694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论文、项目、数据入口</a:t>
            </a:r>
            <a:endParaRPr lang="en-US" sz="920" dirty="0"/>
          </a:p>
        </p:txBody>
      </p:sp>
      <p:sp>
        <p:nvSpPr>
          <p:cNvPr id="28" name="Shape 22"/>
          <p:cNvSpPr/>
          <p:nvPr/>
        </p:nvSpPr>
        <p:spPr>
          <a:xfrm>
            <a:off x="6492240" y="4263390"/>
            <a:ext cx="498348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565392" y="4318254"/>
            <a:ext cx="4837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说明调研来源</a:t>
            </a:r>
            <a:endParaRPr lang="en-US" sz="920" dirty="0"/>
          </a:p>
        </p:txBody>
      </p:sp>
      <p:sp>
        <p:nvSpPr>
          <p:cNvPr id="30" name="Shape 24"/>
          <p:cNvSpPr/>
          <p:nvPr/>
        </p:nvSpPr>
        <p:spPr>
          <a:xfrm>
            <a:off x="731520" y="4640580"/>
            <a:ext cx="1920240" cy="37719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04672" y="4695444"/>
            <a:ext cx="1773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算法板</a:t>
            </a:r>
            <a:endParaRPr lang="en-US" sz="920" dirty="0"/>
          </a:p>
        </p:txBody>
      </p:sp>
      <p:sp>
        <p:nvSpPr>
          <p:cNvPr id="32" name="Shape 26"/>
          <p:cNvSpPr/>
          <p:nvPr/>
        </p:nvSpPr>
        <p:spPr>
          <a:xfrm>
            <a:off x="2651760" y="4640580"/>
            <a:ext cx="3840480" cy="37719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724912" y="4695444"/>
            <a:ext cx="3694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算法节点与分类</a:t>
            </a:r>
            <a:endParaRPr lang="en-US" sz="920" dirty="0"/>
          </a:p>
        </p:txBody>
      </p:sp>
      <p:sp>
        <p:nvSpPr>
          <p:cNvPr id="34" name="Shape 28"/>
          <p:cNvSpPr/>
          <p:nvPr/>
        </p:nvSpPr>
        <p:spPr>
          <a:xfrm>
            <a:off x="6492240" y="4640580"/>
            <a:ext cx="4983480" cy="37719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565392" y="4695444"/>
            <a:ext cx="4837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支撑算法谱系</a:t>
            </a:r>
            <a:endParaRPr lang="en-US" sz="920" dirty="0"/>
          </a:p>
        </p:txBody>
      </p:sp>
      <p:sp>
        <p:nvSpPr>
          <p:cNvPr id="36" name="Shape 30"/>
          <p:cNvSpPr/>
          <p:nvPr/>
        </p:nvSpPr>
        <p:spPr>
          <a:xfrm>
            <a:off x="731520" y="5017770"/>
            <a:ext cx="192024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04672" y="5072634"/>
            <a:ext cx="1773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实验页</a:t>
            </a:r>
            <a:endParaRPr lang="en-US" sz="920" dirty="0"/>
          </a:p>
        </p:txBody>
      </p:sp>
      <p:sp>
        <p:nvSpPr>
          <p:cNvPr id="38" name="Shape 32"/>
          <p:cNvSpPr/>
          <p:nvPr/>
        </p:nvSpPr>
        <p:spPr>
          <a:xfrm>
            <a:off x="2651760" y="5017770"/>
            <a:ext cx="384048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724912" y="5072634"/>
            <a:ext cx="3694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与指标字段</a:t>
            </a:r>
            <a:endParaRPr lang="en-US" sz="920" dirty="0"/>
          </a:p>
        </p:txBody>
      </p:sp>
      <p:sp>
        <p:nvSpPr>
          <p:cNvPr id="40" name="Shape 34"/>
          <p:cNvSpPr/>
          <p:nvPr/>
        </p:nvSpPr>
        <p:spPr>
          <a:xfrm>
            <a:off x="6492240" y="5017770"/>
            <a:ext cx="4983480" cy="37719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65392" y="5072634"/>
            <a:ext cx="4837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支撑复现框架</a:t>
            </a:r>
            <a:endParaRPr lang="en-US" sz="920" dirty="0"/>
          </a:p>
        </p:txBody>
      </p:sp>
      <p:sp>
        <p:nvSpPr>
          <p:cNvPr id="42" name="Text 36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04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网站如何支撑复现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从资料入口走向 baseline 和可复查记录。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28216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资料入口：保留来源链接、项目仓库、论文入口。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749808" y="214884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84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实验入口：固定数据集、压缩器版本、指标字段。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49808" y="2569464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505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任务入口：把后续要补的图、实验、阅读拆成清单。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49808" y="299008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926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复查入口：未来报告不再只依赖口头记忆。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4892040" y="1444752"/>
            <a:ext cx="635508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5" name="Image 0" descr="F:\Compressor_site\assets\ppt_images\website_experi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847" y="1517904"/>
            <a:ext cx="5701467" cy="39593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0056" y="5532120"/>
            <a:ext cx="6099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Experiments 页面：用于沉淀 baseline 与指标字段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05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无损压缩任务本质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完全可逆前提下，用更少 bit 表示同一份原始数据。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核心约束不是“看起来差不多”，而是解压后必须逐 bit 一致。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38528"/>
            <a:ext cx="1947672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031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原始序列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807208" y="2231136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5224" y="1938528"/>
            <a:ext cx="1947672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21031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发现冗余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919472" y="2231136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1938528"/>
            <a:ext cx="1947672" cy="786384"/>
          </a:xfrm>
          <a:prstGeom prst="roundRect">
            <a:avLst>
              <a:gd name="adj" fmla="val 4651"/>
            </a:avLst>
          </a:prstGeom>
          <a:solidFill>
            <a:srgbClr val="F5EEE5"/>
          </a:solidFill>
          <a:ln w="10160">
            <a:solidFill>
              <a:srgbClr val="A86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1031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概率/字典建模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031736" y="2231136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9752" y="1938528"/>
            <a:ext cx="1947672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904" y="21031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熵编码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144000" y="2231136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1938528"/>
            <a:ext cx="1947672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1031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完全还原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31089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压缩率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051560" y="42245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更少 bit 表示同一信息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657600"/>
            <a:ext cx="31089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709160" y="42245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解压输出与输入完全一致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3657600"/>
            <a:ext cx="31089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366760" y="42245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时间、内存、工程复杂度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06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压缩器输入不是字符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输入应理解为 bit / byte / symbol sequence。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55648"/>
            <a:ext cx="1554480" cy="576072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28800"/>
            <a:ext cx="14081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755648"/>
            <a:ext cx="3200400" cy="576072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828800"/>
            <a:ext cx="3054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看见的对象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0680" y="1755648"/>
            <a:ext cx="6080760" cy="576072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1828800"/>
            <a:ext cx="5934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386584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240280" y="2331720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2386584"/>
            <a:ext cx="3054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0/1 序列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440680" y="2331720"/>
            <a:ext cx="60807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2386584"/>
            <a:ext cx="5934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最终编码长度以 bit 计量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85800" y="2907792"/>
            <a:ext cx="155448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962656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240280" y="2907792"/>
            <a:ext cx="320040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13432" y="2962656"/>
            <a:ext cx="3054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文件中的字节流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440680" y="2907792"/>
            <a:ext cx="608076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2962656"/>
            <a:ext cx="5934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多数通用压缩器直接处理 byte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5800" y="3483864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538728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240280" y="3483864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3538728"/>
            <a:ext cx="3054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被模型预测的事件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440680" y="3483864"/>
            <a:ext cx="60807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3538728"/>
            <a:ext cx="5934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建模粒度决定概率分布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85800" y="4059936"/>
            <a:ext cx="155448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114800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240280" y="4059936"/>
            <a:ext cx="320040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13432" y="4114800"/>
            <a:ext cx="3054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前文或局部状态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440680" y="4059936"/>
            <a:ext cx="6080760" cy="576072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4114800"/>
            <a:ext cx="5934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决定预测器能捕捉什么冗余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把输入抽象清楚，才能解释 Huffman、LZ、PPM、PAQ 和神经模型的差异。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07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数据类型与冗余特点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不同数据的冗余结构决定压缩难度。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1828800" cy="63246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54480"/>
            <a:ext cx="1682496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481328"/>
            <a:ext cx="3840480" cy="63246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54480"/>
            <a:ext cx="3694176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典型冗余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257800" cy="63246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54480"/>
            <a:ext cx="5111496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适合观察的问题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113788"/>
            <a:ext cx="1828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168652"/>
            <a:ext cx="1682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468880" y="2113788"/>
            <a:ext cx="384048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168652"/>
            <a:ext cx="369417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词频、语法、上下文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309360" y="2113788"/>
            <a:ext cx="5257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168652"/>
            <a:ext cx="5111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语言模型/PPM 能捕捉多长依赖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40080" y="2746248"/>
            <a:ext cx="182880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01112"/>
            <a:ext cx="1682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XML/HTML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468880" y="2746248"/>
            <a:ext cx="384048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801112"/>
            <a:ext cx="369417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标签重复、结构模式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309360" y="2746248"/>
            <a:ext cx="525780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801112"/>
            <a:ext cx="5111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字典方法与上下文建模的收益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40080" y="3378708"/>
            <a:ext cx="1828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433572"/>
            <a:ext cx="1682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468880" y="3378708"/>
            <a:ext cx="384048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433572"/>
            <a:ext cx="369417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格式字段、局部重复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309360" y="3378708"/>
            <a:ext cx="5257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433572"/>
            <a:ext cx="5111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通用压缩器的鲁棒性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40080" y="4011168"/>
            <a:ext cx="182880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066032"/>
            <a:ext cx="1682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图像/多媒体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2468880" y="4011168"/>
            <a:ext cx="384048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4066032"/>
            <a:ext cx="369417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空间相关、已压缩内容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09360" y="4011168"/>
            <a:ext cx="5257800" cy="63246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066032"/>
            <a:ext cx="5111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通用无损压缩的上限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40080" y="4643628"/>
            <a:ext cx="1828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698492"/>
            <a:ext cx="1682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混合语料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2468880" y="4643628"/>
            <a:ext cx="384048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4698492"/>
            <a:ext cx="369417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多种冗余共存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309360" y="4643628"/>
            <a:ext cx="525780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4698492"/>
            <a:ext cx="511149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是否公平稳定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08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 Silesia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Silesia 是混合数据 baseline，不是最终业务结论。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9164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2763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包含文本、XML、数据库、二进制等不同类型文件。</a:t>
            </a:r>
            <a:endParaRPr lang="en-US" sz="109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391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常用于通用无损压缩器比较，便于与公开结果对齐。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749808" y="251460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5059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适合作为第一阶段 baseline，但不能代替业务数据集。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749808" y="292608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620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PPT 不填未实测结果，只先固定指标和表格结构。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635508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5" name="Image 0" descr="F:\Compressor_site\assets\ppt_images\external_silesia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847" y="1490472"/>
            <a:ext cx="5701467" cy="39593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0056" y="5504688"/>
            <a:ext cx="6099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Silesia benchmark 页面截图：来源见 image_sources.md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09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压缩器核心框架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压缩器由表示、建模、熵编码、还原约束组成。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36776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5727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表示：把文件转成模型可处理的符号序列。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2039112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751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建模：估计下一个符号或片段的概率。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49808" y="244144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3774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熵编码：把概率优势转成更短 bitstream。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2843784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7977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还原：编码器与解码器必须共享同一状态更新规则。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892040" y="1444752"/>
            <a:ext cx="6355080" cy="4343400"/>
          </a:xfrm>
          <a:prstGeom prst="rect">
            <a:avLst/>
          </a:prstGeom>
          <a:solidFill>
            <a:srgbClr val="FFF7ED"/>
          </a:solidFill>
          <a:ln w="15240">
            <a:solidFill>
              <a:srgbClr val="C47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3415284"/>
            <a:ext cx="5916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TODO：这里需要补充 lossless compression pipeline 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算法演进谱系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从频率统计到神经概率建模。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1083564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7" name="Image 0" descr="F:\Compressor_site\assets\ppt_images\website_algorithm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234" y="1371600"/>
            <a:ext cx="5174772" cy="3593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5020056"/>
            <a:ext cx="10579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当前网站 Algorithm Evolution 页面截图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1051560" y="5797296"/>
            <a:ext cx="10012680" cy="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08" y="5724144"/>
            <a:ext cx="146304" cy="146304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1950s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576072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</a:t>
            </a:r>
            <a:endParaRPr lang="en-US" sz="810" dirty="0"/>
          </a:p>
        </p:txBody>
      </p:sp>
      <p:sp>
        <p:nvSpPr>
          <p:cNvPr id="13" name="Shape 10"/>
          <p:cNvSpPr/>
          <p:nvPr/>
        </p:nvSpPr>
        <p:spPr>
          <a:xfrm>
            <a:off x="2980944" y="5724144"/>
            <a:ext cx="146304" cy="146304"/>
          </a:xfrm>
          <a:prstGeom prst="ellipse">
            <a:avLst/>
          </a:prstGeom>
          <a:solidFill>
            <a:srgbClr val="2E7D58"/>
          </a:solidFill>
          <a:ln w="12700">
            <a:solidFill>
              <a:srgbClr val="2E7D5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42616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1970s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578608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LZ77/78</a:t>
            </a:r>
            <a:endParaRPr lang="en-US" sz="810" dirty="0"/>
          </a:p>
        </p:txBody>
      </p:sp>
      <p:sp>
        <p:nvSpPr>
          <p:cNvPr id="16" name="Shape 13"/>
          <p:cNvSpPr/>
          <p:nvPr/>
        </p:nvSpPr>
        <p:spPr>
          <a:xfrm>
            <a:off x="4983480" y="5724144"/>
            <a:ext cx="146304" cy="146304"/>
          </a:xfrm>
          <a:prstGeom prst="ellipse">
            <a:avLst/>
          </a:prstGeom>
          <a:solidFill>
            <a:srgbClr val="A86316"/>
          </a:solidFill>
          <a:ln w="12700">
            <a:solidFill>
              <a:srgbClr val="A8631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1980s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581144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6986016" y="5724144"/>
            <a:ext cx="146304" cy="146304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7688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1990s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6583680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BWT / PPM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8988552" y="5724144"/>
            <a:ext cx="146304" cy="146304"/>
          </a:xfrm>
          <a:prstGeom prst="ellipse">
            <a:avLst/>
          </a:prstGeom>
          <a:solidFill>
            <a:srgbClr val="2E7D58"/>
          </a:solidFill>
          <a:ln w="12700">
            <a:solidFill>
              <a:srgbClr val="2E7D5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50224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2000s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8586216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PAQ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10991088" y="5724144"/>
            <a:ext cx="146304" cy="146304"/>
          </a:xfrm>
          <a:prstGeom prst="ellipse">
            <a:avLst/>
          </a:prstGeom>
          <a:solidFill>
            <a:srgbClr val="A86316"/>
          </a:solidFill>
          <a:ln w="12700">
            <a:solidFill>
              <a:srgbClr val="A8631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52760" y="5468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2020s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10588752" y="598017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</a:t>
            </a:r>
            <a:endParaRPr lang="en-US" sz="81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11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经典算法节点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Huffman、LZ、BWT、PPM 分别解决不同冗余问题。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频率统计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96112" y="1856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96112" y="220370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已知频率下，为高频符号分配短码。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493008" y="141732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1581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重复匹配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75888" y="1856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LZ77 / LZ78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675888" y="220370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用历史窗口或字典复用重复片段。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72784" y="141732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581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变换组织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55664" y="1856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BWT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455664" y="220370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先重排，再让相似上下文更集中。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1581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上下文建模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235440" y="1856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PPM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235440" y="220370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按上下文长度预测下一个符号。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3232" y="3127248"/>
            <a:ext cx="10853928" cy="2304288"/>
          </a:xfrm>
          <a:prstGeom prst="rect">
            <a:avLst/>
          </a:prstGeom>
          <a:solidFill>
            <a:srgbClr val="FFF7ED"/>
          </a:solidFill>
          <a:ln w="15240">
            <a:solidFill>
              <a:srgbClr val="C47F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078224"/>
            <a:ext cx="10415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TODO：这里需要补充 Huffman / LZ77 / BWT / PPM 的高质量原图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代表压缩器选择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精读对象与扩展调研对象分层。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44752"/>
            <a:ext cx="1828800" cy="64008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1790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44752"/>
            <a:ext cx="3383280" cy="64008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517904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代表对象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1444752"/>
            <a:ext cx="5532120" cy="64008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517904"/>
            <a:ext cx="5385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选择原因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13969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560320" y="2084832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13969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PAQ8PX / cmix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43600" y="2084832"/>
            <a:ext cx="5532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2139696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高压缩率路线，适合研究上下文混合与预测器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31520" y="2724912"/>
            <a:ext cx="182880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7797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baseline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560320" y="2724912"/>
            <a:ext cx="338328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77977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 / zstd / xz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943600" y="2724912"/>
            <a:ext cx="553212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779776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成熟稳定，便于与真实工程约束对照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31520" y="336499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41985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神经方向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560320" y="3364992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341985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NNCP / DeepZip / LLM compression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43600" y="3364992"/>
            <a:ext cx="5532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3419856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观察概率模型能力上限与工程代价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31520" y="4005072"/>
            <a:ext cx="182880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05993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公开对照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2560320" y="4005072"/>
            <a:ext cx="338328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4059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Silesia benchmark / 网站 SOTA 页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943600" y="4005072"/>
            <a:ext cx="553212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4059936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用于校验指标口径和结果记录方式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995160" y="4864608"/>
            <a:ext cx="448056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37" name="Image 0" descr="F:\Compressor_site\assets\ppt_images\website_sota.png">    </p:cNvPr>
          <p:cNvPicPr>
            <a:picLocks noChangeAspect="1"/>
          </p:cNvPicPr>
          <p:nvPr/>
        </p:nvPicPr>
        <p:blipFill>
          <a:blip r:embed="rId1"/>
          <a:srcRect l="0" r="0" t="38456" b="38456"/>
          <a:stretch/>
        </p:blipFill>
        <p:spPr>
          <a:xfrm>
            <a:off x="7068312" y="4937760"/>
            <a:ext cx="4334256" cy="6949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123176" y="568756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 SOTA / Leaderboard 页面局部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13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PAQ8PX / cmix 的定位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高压缩率研究对象，不是默认业务部署方案。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6420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00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核心价值：理解 context mixing 与多预测器组合。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207568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11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研究意义：压缩率强，但时间、内存、实现复杂度高。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49808" y="248716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阶段目标：先读懂结构，再设计可复现对比实验。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289864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34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后续可补：cmix/PAQ 内部模块图或源码阅读笔记。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800600" y="1353312"/>
            <a:ext cx="3182112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5" name="Image 0" descr="F:\Compressor_site\assets\ppt_images\external_paq8px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397760"/>
            <a:ext cx="3035808" cy="2108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28616" y="5532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PAQ8PX GitHub 仓库截图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8183880" y="1353312"/>
            <a:ext cx="3182112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8" name="Image 1" descr="F:\Compressor_site\assets\ppt_images\website_algorithm_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397760"/>
            <a:ext cx="3035808" cy="2108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11896" y="5532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 Algorithm Board 页面截图</a:t>
            </a:r>
            <a:endParaRPr lang="en-US" sz="74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工程压缩器定位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gzip、zstd、xz 对应不同工程场景。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55648"/>
            <a:ext cx="2194560" cy="64922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28800"/>
            <a:ext cx="20482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755648"/>
            <a:ext cx="3657600" cy="64922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28800"/>
            <a:ext cx="3511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典型定位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1755648"/>
            <a:ext cx="4892040" cy="64922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828800"/>
            <a:ext cx="4745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本阶段观察重点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404872"/>
            <a:ext cx="219456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59736"/>
            <a:ext cx="2048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 / DEFLATE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2404872"/>
            <a:ext cx="36576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2459736"/>
            <a:ext cx="3511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兼容性强、生态广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2404872"/>
            <a:ext cx="4892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459736"/>
            <a:ext cx="4745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作为最基础工程 baseline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054096"/>
            <a:ext cx="219456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108960"/>
            <a:ext cx="2048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zstd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3054096"/>
            <a:ext cx="365760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3108960"/>
            <a:ext cx="3511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速度与压缩率平衡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3054096"/>
            <a:ext cx="489204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3108960"/>
            <a:ext cx="4745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观察参数对 ratio/time 的影响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219456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758184"/>
            <a:ext cx="2048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xz / LZMA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0" y="3703320"/>
            <a:ext cx="36576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758184"/>
            <a:ext cx="3511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高压缩率、解压较稳定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0" y="3703320"/>
            <a:ext cx="4892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3758184"/>
            <a:ext cx="4745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PAQ 类研究对象区分代价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4352544"/>
            <a:ext cx="219456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407408"/>
            <a:ext cx="2048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brotli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4352544"/>
            <a:ext cx="365760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4407408"/>
            <a:ext cx="3511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场景常见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0" y="4352544"/>
            <a:ext cx="4892040" cy="64922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4407408"/>
            <a:ext cx="4745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后续视网站/文本场景补充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这里不填真实性能数值，所有速度和压缩率都等 Silesia 实测后补。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神经网络压缩方向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神经网络作为更强概率预测器，但工程代价高。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6420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002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核心思路：用神经网络预测下一个符号概率，再接熵编码。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207568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116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潜在优势：能捕捉更长上下文和复杂统计模式。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49808" y="248716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主要代价：推理时间、模型大小、显存/内存占用。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289864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34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阶段任务：先作为研究方向，不替代 baseline。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800600" y="1353312"/>
            <a:ext cx="3182112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5" name="Image 0" descr="F:\Compressor_site\assets\ppt_images\external_nncp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397760"/>
            <a:ext cx="3035808" cy="2108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28616" y="5532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NNCP 官方页面截图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8183880" y="1353312"/>
            <a:ext cx="3182112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18" name="Image 1" descr="F:\Compressor_site\assets\ppt_images\external_language_modeling_compre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397760"/>
            <a:ext cx="3035808" cy="2108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11896" y="5532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DeepMind 论文页面截图</a:t>
            </a:r>
            <a:endParaRPr lang="en-US" sz="74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16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Silesia baseline 实验设计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统一数据、统一版本、统一指标、可复查。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89888"/>
            <a:ext cx="1463040" cy="64008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实验项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21408" y="1389888"/>
            <a:ext cx="4206240" cy="640080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63040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固定方式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029968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84832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121408" y="2029968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08483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Silesia corpus 原始文件，记录下载来源与校验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58368" y="2670048"/>
            <a:ext cx="146304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24912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121408" y="2670048"/>
            <a:ext cx="420624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72491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 / zstd / xz / PAQ8PX，记录版本和参数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58368" y="3310128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64992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2121408" y="3310128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36499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CPU、内存、系统、电源模式统一记录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58368" y="3950208"/>
            <a:ext cx="146304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05072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2121408" y="3950208"/>
            <a:ext cx="4206240" cy="640080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400507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size、ratio、bpb、time、memory、verify ok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58368" y="4590288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45152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121408" y="4590288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464515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脚本、日志、输出文件路径全部保留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629400" y="1389888"/>
            <a:ext cx="480060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31" name="Image 0" descr="F:\Compressor_site\assets\ppt_images\website_experi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575181"/>
            <a:ext cx="4654296" cy="32321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757416" y="4974336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 Experiments 页面用于承载实验记录</a:t>
            </a:r>
            <a:endParaRPr lang="en-US" sz="740" dirty="0"/>
          </a:p>
        </p:txBody>
      </p:sp>
      <p:sp>
        <p:nvSpPr>
          <p:cNvPr id="33" name="Text 30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17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结果表模板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当前不编造数据，只保留待补真实实验结果。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55648"/>
            <a:ext cx="123444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828800"/>
            <a:ext cx="1088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compressor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1645920" y="1755648"/>
            <a:ext cx="141732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828800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original size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063240" y="1755648"/>
            <a:ext cx="155448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828800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compressed size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617720" y="1755648"/>
            <a:ext cx="96012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828800"/>
            <a:ext cx="813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577840" y="1755648"/>
            <a:ext cx="86868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828800"/>
            <a:ext cx="722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bpb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446520" y="1755648"/>
            <a:ext cx="123444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828800"/>
            <a:ext cx="1088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 time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680960" y="1755648"/>
            <a:ext cx="132588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1828800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 time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006840" y="1755648"/>
            <a:ext cx="118872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1828800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10195560" y="1755648"/>
            <a:ext cx="1600200" cy="694944"/>
          </a:xfrm>
          <a:prstGeom prst="rect">
            <a:avLst/>
          </a:prstGeom>
          <a:solidFill>
            <a:srgbClr val="E7F0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68712" y="1828800"/>
            <a:ext cx="1453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11480" y="2450592"/>
            <a:ext cx="1234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505456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45920" y="2450592"/>
            <a:ext cx="1417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2505456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63240" y="2450592"/>
            <a:ext cx="1554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392" y="250545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2450592"/>
            <a:ext cx="9601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5054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77840" y="2450592"/>
            <a:ext cx="868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2505456"/>
            <a:ext cx="722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46520" y="2450592"/>
            <a:ext cx="1234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2505456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680960" y="2450592"/>
            <a:ext cx="1325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2505456"/>
            <a:ext cx="1179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006840" y="2450592"/>
            <a:ext cx="11887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992" y="2505456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195560" y="2450592"/>
            <a:ext cx="1600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68712" y="2505456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" y="3145536"/>
            <a:ext cx="123444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200400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zstd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0" y="3145536"/>
            <a:ext cx="14173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19072" y="3200400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63240" y="3145536"/>
            <a:ext cx="15544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320040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17720" y="3145536"/>
            <a:ext cx="9601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320040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577840" y="3145536"/>
            <a:ext cx="8686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3200400"/>
            <a:ext cx="722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46520" y="3145536"/>
            <a:ext cx="123444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3200400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680960" y="3145536"/>
            <a:ext cx="13258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54112" y="3200400"/>
            <a:ext cx="1179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006840" y="3145536"/>
            <a:ext cx="11887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79992" y="3200400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195560" y="3145536"/>
            <a:ext cx="160020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68712" y="3200400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11480" y="3840480"/>
            <a:ext cx="1234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" y="3895344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xz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645920" y="3840480"/>
            <a:ext cx="1417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19072" y="3895344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063240" y="3840480"/>
            <a:ext cx="1554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36392" y="38953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17720" y="3840480"/>
            <a:ext cx="9601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90872" y="389534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577840" y="3840480"/>
            <a:ext cx="868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50992" y="3895344"/>
            <a:ext cx="722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446520" y="3840480"/>
            <a:ext cx="1234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9672" y="3895344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680960" y="3840480"/>
            <a:ext cx="1325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54112" y="3895344"/>
            <a:ext cx="1179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006840" y="3840480"/>
            <a:ext cx="11887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79992" y="3895344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195560" y="3840480"/>
            <a:ext cx="1600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68712" y="3895344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11480" y="4535424"/>
            <a:ext cx="123444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" y="4590288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PAQ8PX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0" y="4535424"/>
            <a:ext cx="14173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19072" y="4590288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063240" y="4535424"/>
            <a:ext cx="15544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36392" y="459028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17720" y="4535424"/>
            <a:ext cx="9601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90872" y="4590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577840" y="4535424"/>
            <a:ext cx="8686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50992" y="4590288"/>
            <a:ext cx="722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446520" y="4535424"/>
            <a:ext cx="123444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19672" y="4590288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680960" y="4535424"/>
            <a:ext cx="132588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54112" y="4590288"/>
            <a:ext cx="1179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9006840" y="4535424"/>
            <a:ext cx="118872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79992" y="459028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0195560" y="4535424"/>
            <a:ext cx="1600200" cy="694944"/>
          </a:xfrm>
          <a:prstGeom prst="rect">
            <a:avLst/>
          </a:prstGeom>
          <a:solidFill>
            <a:srgbClr val="F2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268712" y="4590288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6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待补充真实实验结果：本页仅是指标口径模板。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18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多维评估框架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不能只看压缩率，要看五个维度。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10512"/>
            <a:ext cx="3063240" cy="1261872"/>
          </a:xfrm>
          <a:prstGeom prst="roundRect">
            <a:avLst>
              <a:gd name="adj" fmla="val 2899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压缩率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compressed size / original size，越低越好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389120" y="1810512"/>
            <a:ext cx="3063240" cy="1261872"/>
          </a:xfrm>
          <a:prstGeom prst="roundRect">
            <a:avLst>
              <a:gd name="adj" fmla="val 2899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bpb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bits per byte，便于跨文件比较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01000" y="1810512"/>
            <a:ext cx="3063240" cy="1261872"/>
          </a:xfrm>
          <a:prstGeom prst="roundRect">
            <a:avLst>
              <a:gd name="adj" fmla="val 2899"/>
            </a:avLst>
          </a:prstGeom>
          <a:solidFill>
            <a:srgbClr val="F5EEE5"/>
          </a:solidFill>
          <a:ln w="10160">
            <a:solidFill>
              <a:srgbClr val="A86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183880" y="2377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压缩与解压都要单独统计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7240" y="3529584"/>
            <a:ext cx="3063240" cy="1261872"/>
          </a:xfrm>
          <a:prstGeom prst="roundRect">
            <a:avLst>
              <a:gd name="adj" fmla="val 2899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30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60120" y="40965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峰值内存决定可部署边界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389120" y="3529584"/>
            <a:ext cx="3063240" cy="1261872"/>
          </a:xfrm>
          <a:prstGeom prst="roundRect">
            <a:avLst>
              <a:gd name="adj" fmla="val 2899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730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572000" y="40965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ok、脚本可复跑、日志可追踪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66928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结论要来自矩阵，而不是单一指标排名。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19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后续研发路线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baseline 到 PAQ8PX 拆解，再到神经预测模块。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060704"/>
            <a:ext cx="11109960" cy="0"/>
          </a:xfrm>
          <a:prstGeom prst="line">
            <a:avLst/>
          </a:prstGeom>
          <a:noFill/>
          <a:ln w="1016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2002536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 Silesia 实测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724912" y="1801368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508760"/>
            <a:ext cx="2002536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6733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PAQ8PX/cmix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892040" y="1801368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0056" y="1508760"/>
            <a:ext cx="2002536" cy="786384"/>
          </a:xfrm>
          <a:prstGeom prst="roundRect">
            <a:avLst>
              <a:gd name="adj" fmla="val 4651"/>
            </a:avLst>
          </a:prstGeom>
          <a:solidFill>
            <a:srgbClr val="F5EEE5"/>
          </a:solidFill>
          <a:ln w="10160">
            <a:solidFill>
              <a:srgbClr val="A86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6733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86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拆预测器与混合器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059168" y="1801368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7184" y="1508760"/>
            <a:ext cx="2002536" cy="786384"/>
          </a:xfrm>
          <a:prstGeom prst="roundRect">
            <a:avLst>
              <a:gd name="adj" fmla="val 4651"/>
            </a:avLst>
          </a:prstGeom>
          <a:solidFill>
            <a:srgbClr val="E7F0FA"/>
          </a:solidFill>
          <a:ln w="10160">
            <a:solidFill>
              <a:srgbClr val="256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16733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建立消融实验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226296" y="1801368"/>
            <a:ext cx="82296" cy="219456"/>
          </a:xfrm>
          <a:prstGeom prst="chevron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54312" y="1508760"/>
            <a:ext cx="2002536" cy="786384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 w="10160">
            <a:solidFill>
              <a:srgbClr val="2E7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7464" y="16733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探索神经预测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49808" y="2916936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8529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短期：补齐真实 baseline 数据，完成结果表和复现脚本。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49808" y="3355848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2918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中期：围绕 PAQ8PX/cmix 做模块级阅读和可视化笔记。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49808" y="3794760"/>
            <a:ext cx="91440" cy="91440"/>
          </a:xfrm>
          <a:prstGeom prst="ellipse">
            <a:avLst/>
          </a:prstGeom>
          <a:solidFill>
            <a:srgbClr val="2563A7"/>
          </a:solidFill>
          <a:ln w="12700">
            <a:solidFill>
              <a:srgbClr val="2563A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37307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长期：比较传统上下文模型与神经概率预测的代价收益。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217920" y="2761488"/>
            <a:ext cx="5029200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</p:sp>
      <p:pic>
        <p:nvPicPr>
          <p:cNvPr id="27" name="Image 0" descr="F:\Compressor_site\assets\ppt_images\website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5784" y="2834640"/>
            <a:ext cx="2633472" cy="18288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45936" y="4718304"/>
            <a:ext cx="477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 Tasks 页面：后续任务跟踪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749808" y="5358384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阶段性结论：现在最重要的不是继续堆算法名词，而是把实验口径、资料来源和后续任务固定下来。</a:t>
            </a:r>
            <a:endParaRPr lang="en-US" sz="122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Compression Research Atlas · 20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9921240" y="6583680"/>
            <a:ext cx="1737360" cy="0"/>
          </a:xfrm>
          <a:prstGeom prst="line">
            <a:avLst/>
          </a:prstGeom>
          <a:noFill/>
          <a:ln w="762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Compression Research 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无损压缩算法阶段性学习成果汇报</dc:title>
  <dc:subject>无损压缩算法阶段性学习成果汇报</dc:subject>
  <dc:creator>Codex</dc:creator>
  <cp:lastModifiedBy>Codex</cp:lastModifiedBy>
  <cp:revision>1</cp:revision>
  <dcterms:created xsi:type="dcterms:W3CDTF">2026-07-08T05:40:02Z</dcterms:created>
  <dcterms:modified xsi:type="dcterms:W3CDTF">2026-07-08T05:40:02Z</dcterms:modified>
</cp:coreProperties>
</file>